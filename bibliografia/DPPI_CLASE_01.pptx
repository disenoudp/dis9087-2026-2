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oboto Black"/>
      <p:bold r:id="rId47"/>
      <p:boldItalic r:id="rId48"/>
    </p:embeddedFont>
    <p:embeddedFont>
      <p:font typeface="Roboto"/>
      <p:regular r:id="rId49"/>
      <p:bold r:id="rId50"/>
      <p:italic r:id="rId51"/>
      <p:boldItalic r:id="rId52"/>
    </p:embeddedFont>
    <p:embeddedFont>
      <p:font typeface="Roboto Light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113">
          <p15:clr>
            <a:srgbClr val="747775"/>
          </p15:clr>
        </p15:guide>
        <p15:guide id="4" pos="5647">
          <p15:clr>
            <a:srgbClr val="747775"/>
          </p15:clr>
        </p15:guide>
        <p15:guide id="5" orient="horz" pos="113">
          <p15:clr>
            <a:srgbClr val="747775"/>
          </p15:clr>
        </p15:guide>
        <p15:guide id="6" orient="horz" pos="3127">
          <p15:clr>
            <a:srgbClr val="747775"/>
          </p15:clr>
        </p15:guide>
        <p15:guide id="7" orient="horz" pos="45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13"/>
        <p:guide pos="5647"/>
        <p:guide pos="113" orient="horz"/>
        <p:guide pos="3127" orient="horz"/>
        <p:guide pos="45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Black-boldItalic.fntdata"/><Relationship Id="rId47" Type="http://schemas.openxmlformats.org/officeDocument/2006/relationships/font" Target="fonts/RobotoBlack-bold.fntdata"/><Relationship Id="rId4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RobotoLight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6.xml"/><Relationship Id="rId55" Type="http://schemas.openxmlformats.org/officeDocument/2006/relationships/font" Target="fonts/RobotoLight-italic.fntdata"/><Relationship Id="rId10" Type="http://schemas.openxmlformats.org/officeDocument/2006/relationships/slide" Target="slides/slide5.xml"/><Relationship Id="rId54" Type="http://schemas.openxmlformats.org/officeDocument/2006/relationships/font" Target="fonts/RobotoLight-bold.fntdata"/><Relationship Id="rId13" Type="http://schemas.openxmlformats.org/officeDocument/2006/relationships/slide" Target="slides/slide8.xml"/><Relationship Id="rId57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56" Type="http://schemas.openxmlformats.org/officeDocument/2006/relationships/font" Target="fonts/RobotoLight-boldItalic.fntdata"/><Relationship Id="rId15" Type="http://schemas.openxmlformats.org/officeDocument/2006/relationships/slide" Target="slides/slide10.xml"/><Relationship Id="rId59" Type="http://schemas.openxmlformats.org/officeDocument/2006/relationships/font" Target="fonts/RobotoMono-italic.fntdata"/><Relationship Id="rId14" Type="http://schemas.openxmlformats.org/officeDocument/2006/relationships/slide" Target="slides/slide9.xml"/><Relationship Id="rId58" Type="http://schemas.openxmlformats.org/officeDocument/2006/relationships/font" Target="fonts/Roboto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f3936d7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f3936d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f3936d7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f3936d7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f3936d7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6f3936d7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f3936d7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f3936d7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f3936d7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6f3936d7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f3936d7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6f3936d7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f3936d7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f3936d7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6f3936d7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6f3936d7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f3936d7b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6f3936d7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f3936d7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6f3936d7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f3936d7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6f3936d7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f3936d7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6f3936d7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f3936d7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6f3936d7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f3936d7b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6f3936d7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¿El metal es frío o nuestra interacción con él produce la experiencia que denominamos frío?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Aquí la discusión se vuelve especialmente interesante.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Dos materiales que están exactamente a la misma temperatura pueden sentirse diferentes al tacto debido, entre otras cosas, a cómo intercambian energía térmica con nuestra piel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6f3936d7b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6f3936d7b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¿El metal es frío o nuestra interacción con él produce la experiencia que denominamos frío?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Aquí la discusión se vuelve especialmente interesante.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Dos materiales que están exactamente a la misma temperatura pueden sentirse diferentes al tacto debido, entre otras cosas, a cómo intercambian energía térmica con nuestra piel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6f3936d7b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6f3936d7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¿El metal es frío o nuestra interacción con él produce la experiencia que denominamos frío?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Aquí la discusión se vuelve especialmente interesante.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Dos materiales que están exactamente a la misma temperatura pueden sentirse diferentes al tacto debido, entre otras cosas, a cómo intercambian energía térmica con nuestra piel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6f3936d7b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6f3936d7b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¿El metal es frío o nuestra interacción con él produce la experiencia que denominamos frío?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Aquí la discusión se vuelve especialmente interesante.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Dos materiales que están exactamente a la misma temperatura pueden sentirse diferentes al tacto debido, entre otras cosas, a cómo intercambian energía térmica con nuestra piel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6f3936d7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6f3936d7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¿El metal es frío o nuestra interacción con él produce la experiencia que denominamos frío?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Aquí la discusión se vuelve especialmente interesante.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Dos materiales que están exactamente a la misma temperatura pueden sentirse diferentes al tacto debido, entre otras cosas, a cómo intercambian energía térmica con nuestra piel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6f3936d7b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6f3936d7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¿El metal es frío o nuestra interacción con él produce la experiencia que denominamos frío?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Aquí la discusión se vuelve especialmente interesante.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Dos materiales que están exactamente a la misma temperatura pueden sentirse diferentes al tacto debido, entre otras cosas, a cómo intercambian energía térmica con nuestra piel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f3936d7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6f3936d7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6f3936d7b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6f3936d7b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6f3936d7b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6f3936d7b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6f3936d7b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6f3936d7b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6f3936d7b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6f3936d7b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6f3936d7b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6f3936d7b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6f3936d7b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6f3936d7b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6f3936d7b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6f3936d7b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6f3936d7b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6f3936d7b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6f3936d7b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6f3936d7b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6f3936d7b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6f3936d7b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6f3936d7b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6f3936d7b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6f3936d7b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6f3936d7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6f3936d7b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6f3936d7b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6f3936d7b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6f3936d7b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6f3936d7b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6f3936d7b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6f3936d7b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6f3936d7b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6f3936d7b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6f3936d7b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6f3936d7b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f6f3936d7b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6f3936d7b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6f3936d7b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Una cámara puede registrar información asociada a aquello que nosotros denominamos rojo, pero eso no significa que </a:t>
            </a:r>
            <a:r>
              <a:rPr b="1" lang="es">
                <a:solidFill>
                  <a:schemeClr val="dk1"/>
                </a:solidFill>
              </a:rPr>
              <a:t>experimente el rojo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termistor puede registrar temperatura, pero no </a:t>
            </a:r>
            <a:r>
              <a:rPr b="1" lang="es">
                <a:solidFill>
                  <a:schemeClr val="dk1"/>
                </a:solidFill>
              </a:rPr>
              <a:t>siente frío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micrófono puede transformar variaciones de presión en una señal eléctrica, pero no necesariamente </a:t>
            </a:r>
            <a:r>
              <a:rPr b="1" lang="es">
                <a:solidFill>
                  <a:schemeClr val="dk1"/>
                </a:solidFill>
              </a:rPr>
              <a:t>escucha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Y un algoritmo puede clasificar una imagen como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"chair: 97%"</a:t>
            </a:r>
            <a:r>
              <a:rPr lang="es">
                <a:solidFill>
                  <a:schemeClr val="dk1"/>
                </a:solidFill>
              </a:rPr>
              <a:t>, pero eso no implica que tenga nuestra experiencia corporal y cultural de lo que significa </a:t>
            </a:r>
            <a:r>
              <a:rPr b="1" lang="es">
                <a:solidFill>
                  <a:schemeClr val="dk1"/>
                </a:solidFill>
              </a:rPr>
              <a:t>una silla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6f3936d7b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f6f3936d7b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1578900"/>
            <a:ext cx="68217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" sz="39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Dispositivos periféricos y plataformas para la interacción digital</a:t>
            </a:r>
            <a:endParaRPr b="0" i="0" sz="39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297600" y="4378600"/>
            <a:ext cx="553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Felipe Roa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Santiago Gaete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Escuela d3e Diseño, UDP.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161150" y="2371650"/>
            <a:ext cx="682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¿Qué estamos viendo?</a:t>
            </a:r>
            <a:endParaRPr b="0" i="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1161150" y="1494300"/>
            <a:ext cx="68217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FENÓMENO FÍSICO</a:t>
            </a:r>
            <a:endParaRPr sz="36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≠</a:t>
            </a:r>
            <a:endParaRPr sz="36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EXPERIENCIA PERCEPTUAL</a:t>
            </a:r>
            <a:endParaRPr sz="36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1161150" y="2202300"/>
            <a:ext cx="682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El mundo no viene etiquetado</a:t>
            </a:r>
            <a:endParaRPr sz="36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1161150" y="2202300"/>
            <a:ext cx="682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El mundo no viene etiquetado</a:t>
            </a:r>
            <a:endParaRPr sz="36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857250" y="2941200"/>
            <a:ext cx="7429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"rojo", "frío", "fuerte", "cerca", "ruidoso", "suave" </a:t>
            </a:r>
            <a:endParaRPr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son maneras mediante las cuales organizamos nuestra experiencia.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Sentir antes de sensar</a:t>
            </a:r>
            <a:endParaRPr sz="24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614900" y="15106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Mundo/Entorno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614900" y="23699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Cuerpo/Sentidos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614900" y="32292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Interpretación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614900" y="40885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Acción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" name="Google Shape;96;p19"/>
          <p:cNvCxnSpPr>
            <a:stCxn id="92" idx="2"/>
            <a:endCxn id="93" idx="0"/>
          </p:cNvCxnSpPr>
          <p:nvPr/>
        </p:nvCxnSpPr>
        <p:spPr>
          <a:xfrm>
            <a:off x="1698050" y="1972325"/>
            <a:ext cx="0" cy="39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9"/>
          <p:cNvCxnSpPr>
            <a:stCxn id="93" idx="2"/>
            <a:endCxn id="94" idx="0"/>
          </p:cNvCxnSpPr>
          <p:nvPr/>
        </p:nvCxnSpPr>
        <p:spPr>
          <a:xfrm>
            <a:off x="1698050" y="2831625"/>
            <a:ext cx="0" cy="39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9"/>
          <p:cNvCxnSpPr>
            <a:stCxn id="94" idx="2"/>
            <a:endCxn id="95" idx="0"/>
          </p:cNvCxnSpPr>
          <p:nvPr/>
        </p:nvCxnSpPr>
        <p:spPr>
          <a:xfrm>
            <a:off x="1698050" y="3690925"/>
            <a:ext cx="0" cy="39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9"/>
          <p:cNvSpPr txBox="1"/>
          <p:nvPr/>
        </p:nvSpPr>
        <p:spPr>
          <a:xfrm>
            <a:off x="1970800" y="1965613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Estímulo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1970800" y="2768850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Percepción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1970800" y="36588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Significado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180000" y="10488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Cuerpo humano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Sentir antes de sensar</a:t>
            </a:r>
            <a:endParaRPr sz="24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614900" y="15106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Mundo/Entorno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614900" y="23699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Cuerpo/Sentidos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614900" y="32292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Interpretación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614900" y="40885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Acción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" name="Google Shape;112;p20"/>
          <p:cNvCxnSpPr>
            <a:stCxn id="108" idx="2"/>
            <a:endCxn id="109" idx="0"/>
          </p:cNvCxnSpPr>
          <p:nvPr/>
        </p:nvCxnSpPr>
        <p:spPr>
          <a:xfrm>
            <a:off x="1698050" y="1972325"/>
            <a:ext cx="0" cy="39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20"/>
          <p:cNvCxnSpPr>
            <a:stCxn id="109" idx="2"/>
            <a:endCxn id="110" idx="0"/>
          </p:cNvCxnSpPr>
          <p:nvPr/>
        </p:nvCxnSpPr>
        <p:spPr>
          <a:xfrm>
            <a:off x="1698050" y="2831625"/>
            <a:ext cx="0" cy="39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20"/>
          <p:cNvCxnSpPr>
            <a:stCxn id="110" idx="2"/>
            <a:endCxn id="111" idx="0"/>
          </p:cNvCxnSpPr>
          <p:nvPr/>
        </p:nvCxnSpPr>
        <p:spPr>
          <a:xfrm>
            <a:off x="1698050" y="3690925"/>
            <a:ext cx="0" cy="39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20"/>
          <p:cNvSpPr txBox="1"/>
          <p:nvPr/>
        </p:nvSpPr>
        <p:spPr>
          <a:xfrm>
            <a:off x="1970800" y="1965613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Estímulo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1970800" y="2768850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Percepción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1970800" y="36588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Significado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4988900" y="15721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Mundo/Entorno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4988900" y="24314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Sensor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4988900" y="32907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Interpretación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4988900" y="41500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Acción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" name="Google Shape;122;p20"/>
          <p:cNvCxnSpPr>
            <a:stCxn id="118" idx="2"/>
            <a:endCxn id="119" idx="0"/>
          </p:cNvCxnSpPr>
          <p:nvPr/>
        </p:nvCxnSpPr>
        <p:spPr>
          <a:xfrm>
            <a:off x="6072050" y="2033825"/>
            <a:ext cx="0" cy="39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0"/>
          <p:cNvCxnSpPr>
            <a:stCxn id="119" idx="2"/>
            <a:endCxn id="120" idx="0"/>
          </p:cNvCxnSpPr>
          <p:nvPr/>
        </p:nvCxnSpPr>
        <p:spPr>
          <a:xfrm>
            <a:off x="6072050" y="2893125"/>
            <a:ext cx="0" cy="39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0"/>
          <p:cNvCxnSpPr>
            <a:stCxn id="120" idx="2"/>
            <a:endCxn id="121" idx="0"/>
          </p:cNvCxnSpPr>
          <p:nvPr/>
        </p:nvCxnSpPr>
        <p:spPr>
          <a:xfrm>
            <a:off x="6072050" y="3752425"/>
            <a:ext cx="0" cy="39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20"/>
          <p:cNvSpPr txBox="1"/>
          <p:nvPr/>
        </p:nvSpPr>
        <p:spPr>
          <a:xfrm>
            <a:off x="6344800" y="2027113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Fenómeno físico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6344800" y="2830350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Señal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6344800" y="37203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Decisión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180000" y="10488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Cuerpo humano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6797700" y="1048825"/>
            <a:ext cx="216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Máquinas</a:t>
            </a:r>
            <a:endParaRPr i="1"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Sentir antes de sensar</a:t>
            </a:r>
            <a:endParaRPr sz="24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1161150" y="2202300"/>
            <a:ext cx="682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¿Son los procesos equivalentes?</a:t>
            </a:r>
            <a:endParaRPr sz="35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Sentir antes de sensar</a:t>
            </a:r>
            <a:endParaRPr sz="24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790350" y="1186350"/>
            <a:ext cx="206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Fenómeno</a:t>
            </a:r>
            <a:endParaRPr sz="3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442500" y="1832850"/>
            <a:ext cx="275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Algo ocurre en el mundo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706200" y="2927100"/>
            <a:ext cx="2229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Percepción</a:t>
            </a:r>
            <a:endParaRPr sz="3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384600" y="3573600"/>
            <a:ext cx="287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 organismo posee </a:t>
            </a: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características</a:t>
            </a: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para relacionarse con ese algo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5250050" y="1186350"/>
            <a:ext cx="317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Representación</a:t>
            </a:r>
            <a:endParaRPr sz="3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5250050" y="1832850"/>
            <a:ext cx="317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Construimos una forma de describir ese algo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367675" y="3134325"/>
            <a:ext cx="317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Interpretación</a:t>
            </a:r>
            <a:endParaRPr sz="3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5367675" y="3780825"/>
            <a:ext cx="317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 atribuimos significado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180000" y="180000"/>
            <a:ext cx="573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Fenomenología de la percepción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180000" y="1648350"/>
            <a:ext cx="439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¿Percibir es solo recibir información del medio?</a:t>
            </a:r>
            <a:endParaRPr b="1" sz="24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180000" y="180000"/>
            <a:ext cx="573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Fenomenología de la percepción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180000" y="1648350"/>
            <a:ext cx="439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¿Percibir es solo recibir información del medio?</a:t>
            </a:r>
            <a:endParaRPr b="1" sz="24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180000" y="3203525"/>
            <a:ext cx="43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¿Podemos separar completamente percepción y cuerpo?</a:t>
            </a:r>
            <a:endParaRPr b="1" sz="24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>
            <a:off x="1046850" y="2202300"/>
            <a:ext cx="7050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Nuestra experiencia del mundo es </a:t>
            </a:r>
            <a:r>
              <a:rPr lang="es" sz="35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corpórea y situada</a:t>
            </a:r>
            <a:endParaRPr sz="35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180000" y="180000"/>
            <a:ext cx="573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Fenomenología de la percepción</a:t>
            </a:r>
            <a:endParaRPr sz="24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/>
        </p:nvSpPr>
        <p:spPr>
          <a:xfrm>
            <a:off x="1046850" y="2202300"/>
            <a:ext cx="7050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Nuestra experiencia del mundo es </a:t>
            </a:r>
            <a:r>
              <a:rPr lang="es" sz="35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corpórea y situada</a:t>
            </a:r>
            <a:endParaRPr sz="35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180000" y="180000"/>
            <a:ext cx="573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Fenomenología de la percepción</a:t>
            </a:r>
            <a:endParaRPr sz="24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1046850" y="3464400"/>
            <a:ext cx="70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 observamos el mundo desde fuera, estamos inmersos corporalmente a él.</a:t>
            </a:r>
            <a:endParaRPr sz="18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180000" y="180000"/>
            <a:ext cx="573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El cuerpo en relación a otros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180000" y="257175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¿Qué es la realidad?</a:t>
            </a:r>
            <a:endParaRPr b="1" sz="24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180000" y="734100"/>
            <a:ext cx="7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Spinoza, 1677.</a:t>
            </a:r>
            <a:endParaRPr sz="18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180000" y="3338125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¿Qué es el frío?</a:t>
            </a:r>
            <a:endParaRPr b="1" sz="24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/>
        </p:nvSpPr>
        <p:spPr>
          <a:xfrm>
            <a:off x="180000" y="180000"/>
            <a:ext cx="573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El cuerpo en relación a otros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180000" y="2571750"/>
            <a:ext cx="4392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Lo que podemos experimentar depende parcialmente de aquello que nuestro cuerpo puede hacer.</a:t>
            </a:r>
            <a:endParaRPr sz="24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180000" y="734100"/>
            <a:ext cx="7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Spinoza, 1677.</a:t>
            </a:r>
            <a:endParaRPr sz="18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 rotWithShape="1">
          <a:blip r:embed="rId3">
            <a:alphaModFix/>
          </a:blip>
          <a:srcRect b="0" l="10461" r="5920" t="0"/>
          <a:stretch/>
        </p:blipFill>
        <p:spPr>
          <a:xfrm>
            <a:off x="4705600" y="982438"/>
            <a:ext cx="4119800" cy="225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 rotWithShape="1">
          <a:blip r:embed="rId4">
            <a:alphaModFix/>
          </a:blip>
          <a:srcRect b="57452" l="0" r="0" t="0"/>
          <a:stretch/>
        </p:blipFill>
        <p:spPr>
          <a:xfrm>
            <a:off x="4585800" y="3484951"/>
            <a:ext cx="4239601" cy="1121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180000" y="180000"/>
            <a:ext cx="573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El cuerpo en relación a otros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180000" y="734100"/>
            <a:ext cx="7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Spinoza, 1677.</a:t>
            </a:r>
            <a:endParaRPr sz="18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98" name="Google Shape;198;p29"/>
          <p:cNvPicPr preferRelativeResize="0"/>
          <p:nvPr/>
        </p:nvPicPr>
        <p:blipFill rotWithShape="1">
          <a:blip r:embed="rId3">
            <a:alphaModFix/>
          </a:blip>
          <a:srcRect b="5749" l="10819" r="11178" t="0"/>
          <a:stretch/>
        </p:blipFill>
        <p:spPr>
          <a:xfrm>
            <a:off x="4281057" y="720000"/>
            <a:ext cx="4682944" cy="42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/>
        </p:nvSpPr>
        <p:spPr>
          <a:xfrm>
            <a:off x="180000" y="44094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¿De qué color es la flor?</a:t>
            </a:r>
            <a:endParaRPr sz="24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180000" y="180000"/>
            <a:ext cx="573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El cuerpo en relación a otros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180000" y="734100"/>
            <a:ext cx="7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Spinoza, 1677.</a:t>
            </a:r>
            <a:endParaRPr sz="18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852" y="1468550"/>
            <a:ext cx="7050301" cy="274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800" y="180000"/>
            <a:ext cx="6348390" cy="478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/>
        </p:nvSpPr>
        <p:spPr>
          <a:xfrm>
            <a:off x="180000" y="4224600"/>
            <a:ext cx="70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Una silla, tres sillas.</a:t>
            </a:r>
            <a:b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Joseph Kosuth, 1965</a:t>
            </a:r>
            <a:endParaRPr sz="1800">
              <a:solidFill>
                <a:srgbClr val="1614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800" y="180000"/>
            <a:ext cx="6348390" cy="478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/>
          <p:nvPr/>
        </p:nvSpPr>
        <p:spPr>
          <a:xfrm>
            <a:off x="180000" y="4224600"/>
            <a:ext cx="70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Una silla, tres sillas.</a:t>
            </a:r>
            <a:b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Joseph Kosuth, 1965</a:t>
            </a:r>
            <a:endParaRPr sz="1800">
              <a:solidFill>
                <a:srgbClr val="1614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1046850" y="2202300"/>
            <a:ext cx="7050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>
                <a:solidFill>
                  <a:srgbClr val="1614FF"/>
                </a:solidFill>
                <a:highlight>
                  <a:schemeClr val="lt1"/>
                </a:highlight>
                <a:latin typeface="Roboto Black"/>
                <a:ea typeface="Roboto Black"/>
                <a:cs typeface="Roboto Black"/>
                <a:sym typeface="Roboto Black"/>
              </a:rPr>
              <a:t>¿Cuál de las tres es la silla?</a:t>
            </a:r>
            <a:endParaRPr sz="3500">
              <a:solidFill>
                <a:srgbClr val="1614FF"/>
              </a:solidFill>
              <a:highlight>
                <a:schemeClr val="lt1"/>
              </a:highlight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Semiótica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180000" y="1094250"/>
            <a:ext cx="4392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Ciencia que estudia los signos, los símbolos y los procesos mediante los cuales producimos e interpretamos significado.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180000" y="3146475"/>
            <a:ext cx="439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Autores como Saussure nos permiten identificar 3 conceptos: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5250050" y="1094250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Significante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4783250" y="1648350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La palabra escrita o el sonido de la misma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5250050" y="23355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Significado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4783250" y="28896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La idea mental, el concepto en </a:t>
            </a: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sí</a:t>
            </a: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 mismo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5250050" y="36232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Signo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4783250" y="41773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La unión indisoluble de ambos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Semiótica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180000" y="1094250"/>
            <a:ext cx="4392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Ciencia que estudia los signos, los símbolos y los procesos mediante los cuales producimos e interpretamos significado.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4"/>
          <p:cNvSpPr txBox="1"/>
          <p:nvPr/>
        </p:nvSpPr>
        <p:spPr>
          <a:xfrm>
            <a:off x="180000" y="3146475"/>
            <a:ext cx="439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Autores como Saussure nos permiten identificar 3 conceptos: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4"/>
          <p:cNvSpPr txBox="1"/>
          <p:nvPr/>
        </p:nvSpPr>
        <p:spPr>
          <a:xfrm>
            <a:off x="5250050" y="1094250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Significante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4783250" y="1648350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La palabra escrita o el sonido de la misma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5250050" y="23355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Significado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4783250" y="28896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La idea mental, el concepto en sí mismo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5250050" y="36232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Signo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4783250" y="41773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La unión indisoluble de ambos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6" name="Google Shape;246;p34"/>
          <p:cNvPicPr preferRelativeResize="0"/>
          <p:nvPr/>
        </p:nvPicPr>
        <p:blipFill rotWithShape="1">
          <a:blip r:embed="rId3">
            <a:alphaModFix/>
          </a:blip>
          <a:srcRect b="15346" l="7403" r="7403" t="6278"/>
          <a:stretch/>
        </p:blipFill>
        <p:spPr>
          <a:xfrm>
            <a:off x="4856100" y="734100"/>
            <a:ext cx="4107900" cy="403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Semiótica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2" name="Google Shape;252;p35"/>
          <p:cNvSpPr txBox="1"/>
          <p:nvPr/>
        </p:nvSpPr>
        <p:spPr>
          <a:xfrm>
            <a:off x="180000" y="1094250"/>
            <a:ext cx="4392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Ciencia que estudia los signos, los símbolos y los procesos mediante los cuales producimos e interpretamos significado.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5"/>
          <p:cNvSpPr txBox="1"/>
          <p:nvPr/>
        </p:nvSpPr>
        <p:spPr>
          <a:xfrm>
            <a:off x="180000" y="3146475"/>
            <a:ext cx="439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Autores como Pierce nos permiten ampliar los conceptos: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5"/>
          <p:cNvSpPr txBox="1"/>
          <p:nvPr/>
        </p:nvSpPr>
        <p:spPr>
          <a:xfrm>
            <a:off x="5144550" y="1094250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Ícono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4572000" y="1648350"/>
            <a:ext cx="431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Relación de semejanza al concepto requerido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5144550" y="23355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Índice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4677750" y="28896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Relación causa efecto entre eleentos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5144550" y="36232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Símbolo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4677750" y="41773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Convenciones sociales, acuerdos tácitos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Semiótica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180000" y="1094250"/>
            <a:ext cx="4392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Ciencia que estudia los signos, los símbolos y los procesos mediante los cuales producimos e interpretamos significado.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180000" y="3146475"/>
            <a:ext cx="439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Autores como Pierce nos permiten ampliar los conceptos: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6"/>
          <p:cNvSpPr txBox="1"/>
          <p:nvPr/>
        </p:nvSpPr>
        <p:spPr>
          <a:xfrm>
            <a:off x="5144550" y="1094250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Ícono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4572000" y="1648350"/>
            <a:ext cx="431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Relación de semejanza al concepto requerido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5144550" y="23355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Índice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4677750" y="28896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Relación causa efecto entre eleentos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5144550" y="36232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Símbolo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4677750" y="41773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Convenciones sociales, acuerdos tácitos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8" y="852444"/>
            <a:ext cx="4391997" cy="4111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Semiótica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180000" y="1094250"/>
            <a:ext cx="4392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Ciencia que estudia los signos, los símbolos y los procesos mediante los cuales producimos e interpretamos significado.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180000" y="3146475"/>
            <a:ext cx="439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Autores como Pierce nos permiten ampliar los conceptos: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5144550" y="1094250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Ícono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4572000" y="1648350"/>
            <a:ext cx="431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Relación de semejanza al concepto requerido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5144550" y="23355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Índice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4677750" y="28896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Relación causa efecto entre eleentos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37"/>
          <p:cNvSpPr txBox="1"/>
          <p:nvPr/>
        </p:nvSpPr>
        <p:spPr>
          <a:xfrm>
            <a:off x="5144550" y="3623275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Símbolo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4677750" y="4177375"/>
            <a:ext cx="41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Convenciones sociales, acuerdos tácitos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7" name="Google Shape;287;p37"/>
          <p:cNvPicPr preferRelativeResize="0"/>
          <p:nvPr/>
        </p:nvPicPr>
        <p:blipFill rotWithShape="1">
          <a:blip r:embed="rId3">
            <a:alphaModFix/>
          </a:blip>
          <a:srcRect b="0" l="19868" r="11573" t="0"/>
          <a:stretch/>
        </p:blipFill>
        <p:spPr>
          <a:xfrm>
            <a:off x="4571975" y="734100"/>
            <a:ext cx="4391999" cy="42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 txBox="1"/>
          <p:nvPr/>
        </p:nvSpPr>
        <p:spPr>
          <a:xfrm>
            <a:off x="180000" y="180000"/>
            <a:ext cx="43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Semiótica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93" name="Google Shape;293;p38"/>
          <p:cNvSpPr txBox="1"/>
          <p:nvPr/>
        </p:nvSpPr>
        <p:spPr>
          <a:xfrm>
            <a:off x="180000" y="1094250"/>
            <a:ext cx="4392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Ciencia que estudia los signos, los símbolos y los procesos mediante los cuales producimos e interpretamos significado.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180000" y="3146475"/>
            <a:ext cx="439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Autores como Pierce nos permiten ampliar los conceptos:</a:t>
            </a:r>
            <a:endParaRPr sz="21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5" name="Google Shape;2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000" y="751500"/>
            <a:ext cx="4211999" cy="421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/>
        </p:nvSpPr>
        <p:spPr>
          <a:xfrm>
            <a:off x="681900" y="2210100"/>
            <a:ext cx="7780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¿Qué es una silla para una máquina?</a:t>
            </a:r>
            <a:endParaRPr sz="35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93" y="720000"/>
            <a:ext cx="8313818" cy="42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0"/>
          <p:cNvSpPr txBox="1"/>
          <p:nvPr/>
        </p:nvSpPr>
        <p:spPr>
          <a:xfrm>
            <a:off x="180000" y="4224600"/>
            <a:ext cx="70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Visión Artificial</a:t>
            </a:r>
            <a:b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Pixeles, canales de color, interpretaciones</a:t>
            </a:r>
            <a:endParaRPr sz="1800">
              <a:solidFill>
                <a:srgbClr val="1614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980" y="180000"/>
            <a:ext cx="3586496" cy="47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 txBox="1"/>
          <p:nvPr/>
        </p:nvSpPr>
        <p:spPr>
          <a:xfrm>
            <a:off x="180000" y="4224600"/>
            <a:ext cx="70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Cámara térmica</a:t>
            </a:r>
            <a:b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Distribución de radiación infraroja</a:t>
            </a:r>
            <a:endParaRPr sz="1800">
              <a:solidFill>
                <a:srgbClr val="1614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250" y="180000"/>
            <a:ext cx="4783500" cy="47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2"/>
          <p:cNvSpPr txBox="1"/>
          <p:nvPr/>
        </p:nvSpPr>
        <p:spPr>
          <a:xfrm>
            <a:off x="180000" y="4224600"/>
            <a:ext cx="70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LiDAR</a:t>
            </a:r>
            <a:b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Distancias, nubes de puntos</a:t>
            </a:r>
            <a:endParaRPr sz="1800">
              <a:solidFill>
                <a:srgbClr val="1614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578" y="180002"/>
            <a:ext cx="6388848" cy="478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3"/>
          <p:cNvSpPr txBox="1"/>
          <p:nvPr/>
        </p:nvSpPr>
        <p:spPr>
          <a:xfrm>
            <a:off x="180000" y="4224600"/>
            <a:ext cx="70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Depth Map</a:t>
            </a:r>
            <a:b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s" sz="1800">
                <a:solidFill>
                  <a:srgbClr val="1614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Distancias</a:t>
            </a:r>
            <a:endParaRPr sz="1800">
              <a:solidFill>
                <a:srgbClr val="1614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/>
        </p:nvSpPr>
        <p:spPr>
          <a:xfrm>
            <a:off x="681900" y="2210100"/>
            <a:ext cx="7780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5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¿Qué es una silla para una máquina?</a:t>
            </a:r>
            <a:endParaRPr sz="35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30" name="Google Shape;330;p44"/>
          <p:cNvSpPr txBox="1"/>
          <p:nvPr/>
        </p:nvSpPr>
        <p:spPr>
          <a:xfrm>
            <a:off x="681900" y="2933400"/>
            <a:ext cx="778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Nada, solo valores aislados para lo que fué entrenada.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5"/>
          <p:cNvSpPr txBox="1"/>
          <p:nvPr/>
        </p:nvSpPr>
        <p:spPr>
          <a:xfrm>
            <a:off x="180000" y="180000"/>
            <a:ext cx="50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¿Qué representación es correcta?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36" name="Google Shape;336;p45"/>
          <p:cNvSpPr txBox="1"/>
          <p:nvPr/>
        </p:nvSpPr>
        <p:spPr>
          <a:xfrm>
            <a:off x="2984850" y="1586550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Silla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37" name="Google Shape;337;p45"/>
          <p:cNvSpPr txBox="1"/>
          <p:nvPr/>
        </p:nvSpPr>
        <p:spPr>
          <a:xfrm>
            <a:off x="216300" y="2140650"/>
            <a:ext cx="431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Objeto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Fotografía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Definición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4572000" y="2280050"/>
            <a:ext cx="4392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RGB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Distancia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Profundidad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Peso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Proximidad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Clasificación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45"/>
          <p:cNvSpPr txBox="1"/>
          <p:nvPr/>
        </p:nvSpPr>
        <p:spPr>
          <a:xfrm>
            <a:off x="788850" y="3167675"/>
            <a:ext cx="317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Kosuth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45"/>
          <p:cNvSpPr txBox="1"/>
          <p:nvPr/>
        </p:nvSpPr>
        <p:spPr>
          <a:xfrm>
            <a:off x="5180850" y="3942350"/>
            <a:ext cx="317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Máquina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/>
          <p:nvPr/>
        </p:nvSpPr>
        <p:spPr>
          <a:xfrm>
            <a:off x="180000" y="180000"/>
            <a:ext cx="50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¿Qué representación es necesaria?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6" name="Google Shape;346;p46"/>
          <p:cNvSpPr txBox="1"/>
          <p:nvPr/>
        </p:nvSpPr>
        <p:spPr>
          <a:xfrm>
            <a:off x="2984850" y="1586550"/>
            <a:ext cx="317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Silla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7" name="Google Shape;347;p46"/>
          <p:cNvSpPr txBox="1"/>
          <p:nvPr/>
        </p:nvSpPr>
        <p:spPr>
          <a:xfrm>
            <a:off x="216300" y="2140650"/>
            <a:ext cx="431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Objeto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Fotografía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Definición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6"/>
          <p:cNvSpPr txBox="1"/>
          <p:nvPr/>
        </p:nvSpPr>
        <p:spPr>
          <a:xfrm>
            <a:off x="4572000" y="2280050"/>
            <a:ext cx="4392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RGB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Distancia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Profundidad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Peso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Proximidad</a:t>
            </a:r>
            <a:b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6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Clasificación</a:t>
            </a:r>
            <a:endParaRPr sz="16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6"/>
          <p:cNvSpPr txBox="1"/>
          <p:nvPr/>
        </p:nvSpPr>
        <p:spPr>
          <a:xfrm>
            <a:off x="788850" y="3167675"/>
            <a:ext cx="317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Kosuth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6"/>
          <p:cNvSpPr txBox="1"/>
          <p:nvPr/>
        </p:nvSpPr>
        <p:spPr>
          <a:xfrm>
            <a:off x="5180850" y="3942350"/>
            <a:ext cx="317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Máquina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 txBox="1"/>
          <p:nvPr/>
        </p:nvSpPr>
        <p:spPr>
          <a:xfrm>
            <a:off x="180000" y="180000"/>
            <a:ext cx="50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¿Qué representación es necesaria?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1878600" y="1609725"/>
            <a:ext cx="538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La óptima para nuestro sistema 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"/>
          <p:cNvSpPr txBox="1"/>
          <p:nvPr/>
        </p:nvSpPr>
        <p:spPr>
          <a:xfrm>
            <a:off x="180000" y="180000"/>
            <a:ext cx="50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¿Qué representación es necesaria?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62" name="Google Shape;362;p48"/>
          <p:cNvSpPr txBox="1"/>
          <p:nvPr/>
        </p:nvSpPr>
        <p:spPr>
          <a:xfrm>
            <a:off x="1878600" y="1609725"/>
            <a:ext cx="538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La óptima para nuestro sistema 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63" name="Google Shape;363;p48"/>
          <p:cNvSpPr txBox="1"/>
          <p:nvPr/>
        </p:nvSpPr>
        <p:spPr>
          <a:xfrm>
            <a:off x="665450" y="3039450"/>
            <a:ext cx="194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Sensores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64" name="Google Shape;364;p48"/>
          <p:cNvSpPr txBox="1"/>
          <p:nvPr/>
        </p:nvSpPr>
        <p:spPr>
          <a:xfrm>
            <a:off x="3600900" y="3039450"/>
            <a:ext cx="194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Procesador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65" name="Google Shape;365;p48"/>
          <p:cNvSpPr txBox="1"/>
          <p:nvPr/>
        </p:nvSpPr>
        <p:spPr>
          <a:xfrm>
            <a:off x="6536350" y="3039450"/>
            <a:ext cx="194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Actuador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cxnSp>
        <p:nvCxnSpPr>
          <p:cNvPr id="366" name="Google Shape;366;p48"/>
          <p:cNvCxnSpPr>
            <a:stCxn id="363" idx="3"/>
            <a:endCxn id="364" idx="1"/>
          </p:cNvCxnSpPr>
          <p:nvPr/>
        </p:nvCxnSpPr>
        <p:spPr>
          <a:xfrm>
            <a:off x="2607650" y="3316500"/>
            <a:ext cx="993300" cy="0"/>
          </a:xfrm>
          <a:prstGeom prst="straightConnector1">
            <a:avLst/>
          </a:prstGeom>
          <a:noFill/>
          <a:ln cap="flat" cmpd="sng" w="19050">
            <a:solidFill>
              <a:srgbClr val="1614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48"/>
          <p:cNvCxnSpPr>
            <a:stCxn id="364" idx="3"/>
            <a:endCxn id="365" idx="1"/>
          </p:cNvCxnSpPr>
          <p:nvPr/>
        </p:nvCxnSpPr>
        <p:spPr>
          <a:xfrm>
            <a:off x="5543100" y="3316500"/>
            <a:ext cx="993300" cy="0"/>
          </a:xfrm>
          <a:prstGeom prst="straightConnector1">
            <a:avLst/>
          </a:prstGeom>
          <a:noFill/>
          <a:ln cap="flat" cmpd="sng" w="19050">
            <a:solidFill>
              <a:srgbClr val="1614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8" name="Google Shape;368;p48"/>
          <p:cNvSpPr txBox="1"/>
          <p:nvPr/>
        </p:nvSpPr>
        <p:spPr>
          <a:xfrm>
            <a:off x="665450" y="3542552"/>
            <a:ext cx="1942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Humedad</a:t>
            </a:r>
            <a:b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Presión</a:t>
            </a:r>
            <a:b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Temperatura</a:t>
            </a:r>
            <a:b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Distancia</a:t>
            </a:r>
            <a:b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Botón</a:t>
            </a:r>
            <a:endParaRPr i="1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48"/>
          <p:cNvSpPr txBox="1"/>
          <p:nvPr/>
        </p:nvSpPr>
        <p:spPr>
          <a:xfrm>
            <a:off x="3600900" y="3542552"/>
            <a:ext cx="1942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Arduino</a:t>
            </a:r>
            <a:b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ESP32</a:t>
            </a:r>
            <a:b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Computador</a:t>
            </a:r>
            <a:b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Raspberry</a:t>
            </a:r>
            <a:endParaRPr i="1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48"/>
          <p:cNvSpPr txBox="1"/>
          <p:nvPr/>
        </p:nvSpPr>
        <p:spPr>
          <a:xfrm>
            <a:off x="6536350" y="3542552"/>
            <a:ext cx="194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LED</a:t>
            </a:r>
            <a:b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Stepper</a:t>
            </a:r>
            <a:b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s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Servo</a:t>
            </a:r>
            <a:endParaRPr i="1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9"/>
          <p:cNvSpPr txBox="1"/>
          <p:nvPr/>
        </p:nvSpPr>
        <p:spPr>
          <a:xfrm>
            <a:off x="681900" y="720000"/>
            <a:ext cx="7780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Si nosotros podemos diseñar</a:t>
            </a:r>
            <a:endParaRPr sz="24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¿Qué sensamos?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¿Cómo lo medimos?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¿Cómo lo clasificamos?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¿Cómo lo representamos?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¿Qué acción produce?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 txBox="1"/>
          <p:nvPr/>
        </p:nvSpPr>
        <p:spPr>
          <a:xfrm>
            <a:off x="681900" y="720000"/>
            <a:ext cx="7780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Si nosotros podemos diseñar</a:t>
            </a:r>
            <a:endParaRPr sz="24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¿Qué sensamos?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¿Cómo lo medimos?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¿Cómo lo clasificamos?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¿Cómo lo representamos?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¿Qué acción produce?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50"/>
          <p:cNvSpPr txBox="1"/>
          <p:nvPr/>
        </p:nvSpPr>
        <p:spPr>
          <a:xfrm>
            <a:off x="180000" y="4040100"/>
            <a:ext cx="878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Estamos diseñando entonces, una manera particular de relacionar un sistema, las </a:t>
            </a:r>
            <a:r>
              <a:rPr i="1"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personas</a:t>
            </a:r>
            <a:r>
              <a:rPr i="1" lang="e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y el mundo.</a:t>
            </a:r>
            <a:endParaRPr i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"/>
          <p:cNvSpPr txBox="1"/>
          <p:nvPr/>
        </p:nvSpPr>
        <p:spPr>
          <a:xfrm>
            <a:off x="180000" y="1053900"/>
            <a:ext cx="58752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 diseñamos máquinas que perciben la realidad. 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Diseñamos sistemas que seleccionan fenómenos del mundo, los traducen en datos y actúan a partir de una interpretación operacional de ellos. 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4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2"/>
          <p:cNvSpPr txBox="1"/>
          <p:nvPr/>
        </p:nvSpPr>
        <p:spPr>
          <a:xfrm>
            <a:off x="798800" y="2294700"/>
            <a:ext cx="778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Tarea 01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3"/>
          <p:cNvSpPr txBox="1"/>
          <p:nvPr/>
        </p:nvSpPr>
        <p:spPr>
          <a:xfrm>
            <a:off x="180000" y="180000"/>
            <a:ext cx="50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1614FF"/>
                </a:solidFill>
                <a:latin typeface="Roboto Black"/>
                <a:ea typeface="Roboto Black"/>
                <a:cs typeface="Roboto Black"/>
                <a:sym typeface="Roboto Black"/>
              </a:rPr>
              <a:t>Tarea 01</a:t>
            </a:r>
            <a:endParaRPr sz="2400">
              <a:solidFill>
                <a:srgbClr val="1614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97" name="Google Shape;397;p53"/>
          <p:cNvSpPr txBox="1"/>
          <p:nvPr/>
        </p:nvSpPr>
        <p:spPr>
          <a:xfrm>
            <a:off x="180000" y="847950"/>
            <a:ext cx="4392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En grupos de 5 personas, deben seleccionar un objeto cotidiano y deben establecer las relaciones entre conceptos como “realidad”, “sensor”, “dato”, “significado” y “Acción”, respondiendo a las siguientes preguntas.</a:t>
            </a:r>
            <a:endParaRPr sz="18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53"/>
          <p:cNvSpPr txBox="1"/>
          <p:nvPr/>
        </p:nvSpPr>
        <p:spPr>
          <a:xfrm>
            <a:off x="4572000" y="1669500"/>
            <a:ext cx="4392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¿Qué fenómeno puede detectar este objeto?</a:t>
            </a:r>
            <a:endParaRPr sz="18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¿Qué parte del fenómeno transforma en información?</a:t>
            </a:r>
            <a:endParaRPr sz="18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¿Qué dato produce realmente?</a:t>
            </a:r>
            <a:endParaRPr sz="18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¿Qué interpretación hace el sistema de ese dato?</a:t>
            </a:r>
            <a:endParaRPr sz="18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614FF"/>
                </a:solidFill>
                <a:latin typeface="Roboto"/>
                <a:ea typeface="Roboto"/>
                <a:cs typeface="Roboto"/>
                <a:sym typeface="Roboto"/>
              </a:rPr>
              <a:t>¿Qué parte de la realidad queda fuera de su percepción?</a:t>
            </a:r>
            <a:endParaRPr sz="2700">
              <a:solidFill>
                <a:srgbClr val="1614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